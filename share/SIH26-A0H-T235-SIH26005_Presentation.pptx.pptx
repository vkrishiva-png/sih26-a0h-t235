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53" y="-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B4332"/>
                </a:solidFill>
                <a:latin typeface="Cambria"/>
              </a:rPr>
              <a:t>Approximate Solar Irradiance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Solar Irradiance (kWh/m2/day)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NER (Assam/Meghalaya)</c:v>
                </c:pt>
                <c:pt idx="1">
                  <c:v>National Average</c:v>
                </c:pt>
                <c:pt idx="2">
                  <c:v>High-Irradiance
(Rajasthan/Gujarat)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5.5</c:v>
                </c:pt>
                <c:pt idx="2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C2-473C-88CC-CD017743E9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000000"/>
                    </a:solidFill>
                    <a:latin typeface="Arial"/>
                  </a:rPr>
                  <a:t>kWh/m2/day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B4332"/>
                </a:solidFill>
                <a:latin typeface="Cambria"/>
              </a:rPr>
              <a:t>Target Reduction in Vegetable Spoilage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Spoilage Loss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Without Cold Storage</c:v>
                </c:pt>
                <c:pt idx="1">
                  <c:v>With Our System (Target)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53-4291-8CDD-284357555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000000"/>
                    </a:solidFill>
                    <a:latin typeface="Arial"/>
                  </a:rPr>
                  <a:t>% 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91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jpeg"/><Relationship Id="rId4" Type="http://schemas.openxmlformats.org/officeDocument/2006/relationships/image" Target="../media/image9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0.pn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F3A3D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594360"/>
            <a:ext cx="1005840" cy="100584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5" name="Image 0" descr="/home/claude/sih_ppt/icons/sun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7955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187452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SOLAR-POWERED SMART MINI COLD STORAGE SYSTEM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Fresh Vegetables in the North Eastern Region (NER)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51560" y="3977640"/>
            <a:ext cx="3179064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06908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436168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#05 — MDoNER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04944" y="3977640"/>
            <a:ext cx="3179064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42104" y="406908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96384" y="436168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FoodTech &amp; Rural Dev.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58328" y="3977640"/>
            <a:ext cx="3179064" cy="868680"/>
          </a:xfrm>
          <a:prstGeom prst="roundRect">
            <a:avLst>
              <a:gd name="adj" fmla="val 8421"/>
            </a:avLst>
          </a:prstGeom>
          <a:solidFill>
            <a:srgbClr val="1F3A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5488" y="406908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49768" y="4361688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INNOVITA   |      Institution: Amrita Vishwa Vidyapeetham, Coimbatore</a:t>
            </a:r>
            <a:endParaRPr lang="en-US" sz="1250" dirty="0"/>
          </a:p>
        </p:txBody>
      </p:sp>
      <p:pic>
        <p:nvPicPr>
          <p:cNvPr id="1026" name="Picture 2" descr="Solar Cold Room - Solar Powered Cold Rooms Trader - Wholesaler /  Distributor from Ahmedabad">
            <a:extLst>
              <a:ext uri="{FF2B5EF4-FFF2-40B4-BE49-F238E27FC236}">
                <a16:creationId xmlns:a16="http://schemas.microsoft.com/office/drawing/2014/main" id="{8D85F3BE-702E-485A-B9AC-A412F85FB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" y="91440"/>
            <a:ext cx="2880360" cy="178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ision - Sunrise solar EV">
            <a:extLst>
              <a:ext uri="{FF2B5EF4-FFF2-40B4-BE49-F238E27FC236}">
                <a16:creationId xmlns:a16="http://schemas.microsoft.com/office/drawing/2014/main" id="{A9D711A1-F248-4A2B-B5B8-DE4AB57A7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364" y="137160"/>
            <a:ext cx="3215363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" name="Image 0" descr="/home/claude/sih_ppt/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6629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spoilage of vegetables is a major, quantifiable loss driver in India — and NER's terrain and infrastructure gaps make it worse.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E8F0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938528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4.87–11.61%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post-harvest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nationally (NABCONS)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7304" y="18288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E8F0E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74464" y="1938528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₹1.53 L Cr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474464" y="2468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national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loss (~2.35% of GDP)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25968" y="18288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E8F0E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63128" y="1938528"/>
            <a:ext cx="3240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49.9 MMT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63128" y="2468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horticultural produce lost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to poor cold chain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generic solar cold storage designs fall short in NER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351434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3204" y="4069080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1" descr="/home/claude/sih_ppt/icons/mount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656" y="4209532"/>
            <a:ext cx="304312" cy="3043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85800" y="48006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Terrain &amp; Grid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31520" y="51846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Hilly, dispersed farms with unreliable or absent grid power — solar is a necessity, not a preference.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37304" y="3886200"/>
            <a:ext cx="351434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01868" y="4069080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3" name="Image 2" descr="/home/claude/sih_ppt/icons/su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320" y="4209532"/>
            <a:ext cx="304312" cy="30431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474464" y="48006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Solar Irradiance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520184" y="51846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receives far less, more variable sunlight than high-irradiance regions most designs assume.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125968" y="3886200"/>
            <a:ext cx="351434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90532" y="4069080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8" name="Image 3" descr="/home/claude/sih_ppt/icons/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0984" y="4209532"/>
            <a:ext cx="304312" cy="3043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263128" y="48006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Mismatch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8308848" y="51846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designs target multi-tonne warehouses — unaffordable and oversized for smallholder farmers.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" name="Image 0" descr="/home/claude/sih_ppt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6629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430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portable, solar-powered mini cold storage unit that pairs active Peltier cooling with passive PCM thermal buffering and smart IoT monitoring — engineered specifically for NER's terrain, climate and smallholder scale.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514344" cy="2331720"/>
          </a:xfrm>
          <a:prstGeom prst="roundRect">
            <a:avLst>
              <a:gd name="adj" fmla="val 4706"/>
            </a:avLst>
          </a:prstGeom>
          <a:solidFill>
            <a:srgbClr val="FBF1D9"/>
          </a:solidFill>
          <a:ln/>
        </p:spPr>
      </p:sp>
      <p:sp>
        <p:nvSpPr>
          <p:cNvPr id="7" name="Shape 4"/>
          <p:cNvSpPr/>
          <p:nvPr/>
        </p:nvSpPr>
        <p:spPr>
          <a:xfrm>
            <a:off x="1985772" y="2286000"/>
            <a:ext cx="640080" cy="64008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8" name="Image 1" descr="/home/claude/sih_ppt/icons/batter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391" y="24396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0632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47288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-&gt; MPPT charge controller -&gt; Battery bank, sized for NER's low-irradiance conditions.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37304" y="2057400"/>
            <a:ext cx="3514344" cy="2331720"/>
          </a:xfrm>
          <a:prstGeom prst="roundRect">
            <a:avLst>
              <a:gd name="adj" fmla="val 4706"/>
            </a:avLst>
          </a:prstGeom>
          <a:solidFill>
            <a:srgbClr val="E3F2F0"/>
          </a:solidFill>
          <a:ln/>
        </p:spPr>
      </p:sp>
      <p:sp>
        <p:nvSpPr>
          <p:cNvPr id="12" name="Shape 8"/>
          <p:cNvSpPr/>
          <p:nvPr/>
        </p:nvSpPr>
        <p:spPr>
          <a:xfrm>
            <a:off x="5774436" y="228600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2" descr="/home/claude/sih_ppt/icons/snowfl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055" y="24396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74464" y="30632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Cooling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5904" y="3447288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Peltier module + PCM thermal buffer inside an insulated chamber — no compressor, no refrigerant.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25968" y="2057400"/>
            <a:ext cx="3514344" cy="2331720"/>
          </a:xfrm>
          <a:prstGeom prst="roundRect">
            <a:avLst>
              <a:gd name="adj" fmla="val 4706"/>
            </a:avLst>
          </a:prstGeom>
          <a:solidFill>
            <a:srgbClr val="E8F0EB"/>
          </a:solidFill>
          <a:ln/>
        </p:spPr>
      </p:sp>
      <p:sp>
        <p:nvSpPr>
          <p:cNvPr id="17" name="Shape 12"/>
          <p:cNvSpPr/>
          <p:nvPr/>
        </p:nvSpPr>
        <p:spPr>
          <a:xfrm>
            <a:off x="9563100" y="228600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/home/claude/sih_ppt/icons/micro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719" y="243961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63128" y="30632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Monitoring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354568" y="3447288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sensors drive a local display and LoRa alerts — works even with zero connectivity.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Differentiators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501091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3" name="Image 4" descr="/home/claude/sih_ppt/icons/leaf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50" y="5047122"/>
            <a:ext cx="128748" cy="1287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4910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NER's actual (low, variable) solar irradiance — not a national-average assumption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39496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6" name="Image 5" descr="/home/claude/sih_ppt/icons/leaf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50" y="5431170"/>
            <a:ext cx="128748" cy="1287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4400" y="5294376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thermal buffer smooths out cloudy-day gaps without oversizing the battery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5779008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9" name="Image 6" descr="/home/claude/sih_ppt/icons/leaf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50" y="5815218"/>
            <a:ext cx="128748" cy="12874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14400" y="5678424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display works with zero internet; LoRa alerts work with zero cellular signal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48640" y="6163056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2" name="Image 7" descr="/home/claude/sih_ppt/icons/leaf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50" y="6199266"/>
            <a:ext cx="128748" cy="12874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14400" y="606247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wheeled, portable design suited to hilly, dispersed NER farms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457200" y="660446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056" name="Picture 8" descr="Components That Make Up Solar Panels - ERI">
            <a:extLst>
              <a:ext uri="{FF2B5EF4-FFF2-40B4-BE49-F238E27FC236}">
                <a16:creationId xmlns:a16="http://schemas.microsoft.com/office/drawing/2014/main" id="{2DDC2E1E-88CD-461E-A38E-C88DA466F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993" y="2203288"/>
            <a:ext cx="1155360" cy="77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ooling System Heat Sink Set with FAN DIY Kit for Thermoelectric Peltier  Refrigeration (without Peltier Module)">
            <a:extLst>
              <a:ext uri="{FF2B5EF4-FFF2-40B4-BE49-F238E27FC236}">
                <a16:creationId xmlns:a16="http://schemas.microsoft.com/office/drawing/2014/main" id="{2833C333-E8F1-495C-AF53-3EFECEAA1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65" y="2137369"/>
            <a:ext cx="972589" cy="95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ESP32 (30 Pin) Smart Plant Monitoring System Kit | WiFi-Enabled Plant  Monitoring Kit using ESP32 | Real-Time Soil Moisture, Temperature, Humidity  &amp; Auto Watering System | IoT Gardening Automation Kit. : Amazon.in:">
            <a:extLst>
              <a:ext uri="{FF2B5EF4-FFF2-40B4-BE49-F238E27FC236}">
                <a16:creationId xmlns:a16="http://schemas.microsoft.com/office/drawing/2014/main" id="{A438F06B-0989-4A75-9AAA-D151321DC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881" y="2194560"/>
            <a:ext cx="121030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" name="Image 0" descr="/home/claude/sih_ppt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8646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20040"/>
            <a:ext cx="6629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22376" y="123444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FBF1D9"/>
          </a:solidFill>
          <a:ln w="15875">
            <a:solidFill>
              <a:srgbClr val="E9C4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52828" y="1463040"/>
            <a:ext cx="585216" cy="585216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7" name="Image 1" descr="/home/claude/sih_ppt/icons/batter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280" y="1603492"/>
            <a:ext cx="304312" cy="304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3816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Subsystem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950976" y="265176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42416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Panel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50976" y="361188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2416" y="3611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Charge Controller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50976" y="45720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42416" y="4572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Bank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(LiFePO4 / SLA)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014216" y="3337560"/>
            <a:ext cx="411480" cy="274320"/>
          </a:xfrm>
          <a:prstGeom prst="rightArrow">
            <a:avLst/>
          </a:prstGeom>
          <a:solidFill>
            <a:srgbClr val="6B7A70"/>
          </a:solidFill>
          <a:ln/>
        </p:spPr>
      </p:sp>
      <p:sp>
        <p:nvSpPr>
          <p:cNvPr id="16" name="Shape 12"/>
          <p:cNvSpPr/>
          <p:nvPr/>
        </p:nvSpPr>
        <p:spPr>
          <a:xfrm>
            <a:off x="4471416" y="123444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E3F2F0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1868" y="1463040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2" descr="/home/claude/sih_ppt/icons/snowfl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320" y="1603492"/>
            <a:ext cx="304312" cy="304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62856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Cooling Subsystem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700016" y="265176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791456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Peltier Module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(TEC1-12706)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0016" y="361188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791456" y="3611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Heatsink + Fan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 side)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0016" y="45720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91456" y="4572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Insulated Chamber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PCM Buffer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63256" y="3337560"/>
            <a:ext cx="411480" cy="274320"/>
          </a:xfrm>
          <a:prstGeom prst="rightArrow">
            <a:avLst/>
          </a:prstGeom>
          <a:solidFill>
            <a:srgbClr val="6B7A70"/>
          </a:solidFill>
          <a:ln/>
        </p:spPr>
      </p:sp>
      <p:sp>
        <p:nvSpPr>
          <p:cNvPr id="27" name="Shape 22"/>
          <p:cNvSpPr/>
          <p:nvPr/>
        </p:nvSpPr>
        <p:spPr>
          <a:xfrm>
            <a:off x="8220456" y="123444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E8F0EB"/>
          </a:solidFill>
          <a:ln w="15875">
            <a:solidFill>
              <a:srgbClr val="1B433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550908" y="1463040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3" descr="/home/claude/sih_ppt/icons/micro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1360" y="1603492"/>
            <a:ext cx="304312" cy="30431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311896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Monitoring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449056" y="265176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B433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540496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449056" y="361188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B433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540496" y="36118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Temp/Humidity + Current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8449056" y="45720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B4332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540496" y="4572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Display + LoRa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arrows = power/data flow between subsystems  |  PCM sits passively inside the cooling chamber as a thermal buffer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122" name="Picture 2" descr="Real-Time Temperature Monitoring Device — Industrial IoT for Cold Storage, Pharma, Boilers &amp; More | GeoSafe">
            <a:extLst>
              <a:ext uri="{FF2B5EF4-FFF2-40B4-BE49-F238E27FC236}">
                <a16:creationId xmlns:a16="http://schemas.microsoft.com/office/drawing/2014/main" id="{29BE9138-3078-457F-87BF-CF4C72AE5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409" y="541886"/>
            <a:ext cx="1299903" cy="129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esign and Fabrication of a Phase Change Material Heat Storage Device for  the Thermal Control of Electronics Components of Space Applications">
            <a:extLst>
              <a:ext uri="{FF2B5EF4-FFF2-40B4-BE49-F238E27FC236}">
                <a16:creationId xmlns:a16="http://schemas.microsoft.com/office/drawing/2014/main" id="{A5DA0868-718E-4CF1-BC35-F6F77004D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304" y="549422"/>
            <a:ext cx="1438517" cy="127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olar Power Flat Animated Icon On Stock Footage Video (100% Royalty-free) 1066189045 | Shutterstock">
            <a:extLst>
              <a:ext uri="{FF2B5EF4-FFF2-40B4-BE49-F238E27FC236}">
                <a16:creationId xmlns:a16="http://schemas.microsoft.com/office/drawing/2014/main" id="{1AB2B651-D493-45F9-AFD4-120F3E4FA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490" y="869156"/>
            <a:ext cx="1102043" cy="105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" name="Image 0" descr="/home/claude/sih_ppt/icons/snowfl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8646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2004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Cooling Works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E3F2F0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1" descr="/home/claude/sih_ppt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5032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3716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Peltier Module: a Solid-State Heat Pump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103120"/>
            <a:ext cx="47228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current through P-type/N-type semiconductor junctions pushes heat from one face to the other — no gas, no moving parts.
One side gets cold, the other gets hot. Reverse the current, and the sides swap.
</a:t>
            </a: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 used in portable car fridges and wine coolers — no compressor needed.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77356" y="1143000"/>
            <a:ext cx="5362956" cy="4480560"/>
          </a:xfrm>
          <a:prstGeom prst="roundRect">
            <a:avLst>
              <a:gd name="adj" fmla="val 2449"/>
            </a:avLst>
          </a:prstGeom>
          <a:solidFill>
            <a:srgbClr val="FBF1D9"/>
          </a:solidFill>
          <a:ln/>
        </p:spPr>
      </p:sp>
      <p:sp>
        <p:nvSpPr>
          <p:cNvPr id="11" name="Shape 7"/>
          <p:cNvSpPr/>
          <p:nvPr/>
        </p:nvSpPr>
        <p:spPr>
          <a:xfrm>
            <a:off x="6551676" y="1371600"/>
            <a:ext cx="548640" cy="54864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12" name="Image 2" descr="/home/claude/sih_ppt/icons/box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3350" y="15032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83196" y="1371600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PCM: a Reusable Thermal Battery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597396" y="2103120"/>
            <a:ext cx="47228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heat while melting at a fixed temperature (~8°C) — frozen by surplus solar power during the day, releasing cold slowly overnight or on cloudy days.
Lets a small, cheap battery handle only electronics load, while PCM absorbs the bulk thermal swings.
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ice pack in a picnic cooler — keeps things cold for hours with zero power draw.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074" name="Picture 2" descr="Buy TEC1-12706 Thermoelectric Cooler Peltier Module - 40x40mm 6A Online In  India at HUBTRONICS.in">
            <a:extLst>
              <a:ext uri="{FF2B5EF4-FFF2-40B4-BE49-F238E27FC236}">
                <a16:creationId xmlns:a16="http://schemas.microsoft.com/office/drawing/2014/main" id="{6EF6A210-A3F2-47B0-898F-9C67C32A0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749040"/>
            <a:ext cx="2057400" cy="166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eltier Module - Thermo electric cooler - TEC This is a cheap Peltier module,  also known as thermoelectric cooler. Which is a solid-state device that  uses the Peltier effect to create heat">
            <a:extLst>
              <a:ext uri="{FF2B5EF4-FFF2-40B4-BE49-F238E27FC236}">
                <a16:creationId xmlns:a16="http://schemas.microsoft.com/office/drawing/2014/main" id="{876E91E3-D525-4047-A900-1F56CDA54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40" y="4544099"/>
            <a:ext cx="2459196" cy="194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Experimental and numerical study of PCM thermophysical parameters on  lithium-ion battery thermal management - ScienceDirect">
            <a:extLst>
              <a:ext uri="{FF2B5EF4-FFF2-40B4-BE49-F238E27FC236}">
                <a16:creationId xmlns:a16="http://schemas.microsoft.com/office/drawing/2014/main" id="{EF2A93D7-D0AB-4429-B5A5-81CFC1232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063" y="4117659"/>
            <a:ext cx="3191715" cy="146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3" name="Image 0" descr="/home/claude/sih_ppt/icons/su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8646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20040"/>
            <a:ext cx="9372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for NER's Low Solar Irradiance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5577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06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based on MNRE solar radiation resource data — NER falls in the country's lowest solar-irradiance tier.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6400800" y="1234440"/>
            <a:ext cx="5239512" cy="841248"/>
          </a:xfrm>
          <a:prstGeom prst="roundRect">
            <a:avLst>
              <a:gd name="adj" fmla="val 8696"/>
            </a:avLst>
          </a:prstGeom>
          <a:solidFill>
            <a:srgbClr val="E8F0EB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565392" y="128930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Over-Insulation + Duty Cycling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565392" y="1563624"/>
            <a:ext cx="4910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 PUF/EPS panels + thermostat logic so the Peltier module runs only when needed.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0" y="2194560"/>
            <a:ext cx="5239512" cy="841248"/>
          </a:xfrm>
          <a:prstGeom prst="roundRect">
            <a:avLst>
              <a:gd name="adj" fmla="val 8696"/>
            </a:avLst>
          </a:prstGeom>
          <a:solidFill>
            <a:srgbClr val="E8F0E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65392" y="224942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Bifacial Panels + Optimal Tilt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65392" y="2523744"/>
            <a:ext cx="4910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reflected/diffused light and matches panel angle to NER's latitude.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3154680"/>
            <a:ext cx="5239512" cy="841248"/>
          </a:xfrm>
          <a:prstGeom prst="roundRect">
            <a:avLst>
              <a:gd name="adj" fmla="val 8696"/>
            </a:avLst>
          </a:prstGeom>
          <a:solidFill>
            <a:srgbClr val="E8F0E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565392" y="320954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PCM Thermal Buffering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565392" y="3483864"/>
            <a:ext cx="4910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'cold' during peak sun, releasing it through cloudy stretches — reduces battery size needed.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0" y="4114800"/>
            <a:ext cx="5239512" cy="841248"/>
          </a:xfrm>
          <a:prstGeom prst="roundRect">
            <a:avLst>
              <a:gd name="adj" fmla="val 8696"/>
            </a:avLst>
          </a:prstGeom>
          <a:solidFill>
            <a:srgbClr val="E8F0E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65392" y="4169664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Weather-Aware Pre-Cooling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565392" y="4443984"/>
            <a:ext cx="4910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logic pre-cools and pre-freezes PCM ahead of a forecast cloudy spell — zero extra hardware cost.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146" name="Picture 2" descr="Holocene vegetation, climate, and culture in Northeast India: a pollen  data–based review - ScienceDirect">
            <a:extLst>
              <a:ext uri="{FF2B5EF4-FFF2-40B4-BE49-F238E27FC236}">
                <a16:creationId xmlns:a16="http://schemas.microsoft.com/office/drawing/2014/main" id="{2A87FD9B-CD5C-4174-972B-4995F13FE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426" y="4474656"/>
            <a:ext cx="2657476" cy="191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3" name="Image 0" descr="/home/claude/sih_ppt/icons/mon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8646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2004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Estimated Cost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6949440" cy="4434846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Cost (INR)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Panel (100-150W)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4,000 - 6,000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MPPT Charge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1,500 - 2,500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Bank (LiFePO4 / SLA)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6,000 - 12,000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Peltier Modules (TEC1-12706) x2-4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1,200 - 2,400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Heatsinks + Cooling Fans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800 - 1,500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Insulated Chamber (PUF/EPS + frame)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3,000 - 5,000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PCM Packs (~5 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1,000 - 2,000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Microcontroller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400 - 600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(Temp/Humidity + Current)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300 - 700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600 - 1,200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Display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300 - 500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Wheels, Frame &amp; Misc.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1,000 - 2,000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1143000"/>
            <a:ext cx="3886200" cy="1188720"/>
          </a:xfrm>
          <a:prstGeom prst="roundRect">
            <a:avLst>
              <a:gd name="adj" fmla="val 7692"/>
            </a:avLst>
          </a:prstGeom>
          <a:solidFill>
            <a:srgbClr val="264653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955280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</a:t>
            </a:r>
            <a:endParaRPr lang="en-US" sz="1100" dirty="0"/>
          </a:p>
        </p:txBody>
      </p:sp>
      <p:sp>
        <p:nvSpPr>
          <p:cNvPr id="5" name="Text 4"/>
          <p:cNvSpPr txBox="1"/>
          <p:nvPr/>
        </p:nvSpPr>
        <p:spPr>
          <a:xfrm>
            <a:off x="7955280" y="15361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20,000 - 35,000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26060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Notes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772400" y="2990088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/home/claude/sih_ppt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017520"/>
            <a:ext cx="128016" cy="1280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65008" y="2926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off-the-shelf and widely available — no custom fabrication or import dependency.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7772400" y="3767328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4" name="Image 2" descr="/home/claude/sih_ppt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794760"/>
            <a:ext cx="128016" cy="12801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65008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Peltier-based cooling avoids refrigerant handling, keeping build and maintenance simple for a student team.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7772400" y="4544568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3" descr="/home/claude/sih_ppt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4572000"/>
            <a:ext cx="128016" cy="12801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65008" y="4480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idea-stage estimates for a single mini unit; cluster-sharing models reduce per-farmer cost further.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" name="Image 0" descr="/home/claude/sih_ppt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8646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20040"/>
            <a:ext cx="6629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18872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389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 range, based on national post-harvest loss baselines (NABCONS) for stored vegetables.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6126480" y="1188720"/>
            <a:ext cx="5513832" cy="896112"/>
          </a:xfrm>
          <a:prstGeom prst="roundRect">
            <a:avLst>
              <a:gd name="adj" fmla="val 8163"/>
            </a:avLst>
          </a:prstGeom>
          <a:solidFill>
            <a:srgbClr val="FBF1D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291072" y="126187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Shelf Life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291072" y="155448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8-12C storage extends usable shelf life of leafy greens and local NER produce well beyond ambient conditions.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26480" y="2194560"/>
            <a:ext cx="5513832" cy="896112"/>
          </a:xfrm>
          <a:prstGeom prst="roundRect">
            <a:avLst>
              <a:gd name="adj" fmla="val 8163"/>
            </a:avLst>
          </a:prstGeom>
          <a:solidFill>
            <a:srgbClr val="FBF1D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291072" y="226771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Off-Grid Resilience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291072" y="256032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+ battery combination targets 1-2 days of cooling autonomy with zero sunlight.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3200400"/>
            <a:ext cx="5513832" cy="896112"/>
          </a:xfrm>
          <a:prstGeom prst="roundRect">
            <a:avLst>
              <a:gd name="adj" fmla="val 8163"/>
            </a:avLst>
          </a:prstGeom>
          <a:solidFill>
            <a:srgbClr val="FBF1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291072" y="327355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Income Protection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291072" y="356616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distress-selling and spoilage losses directly protect smallholder farmer income.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4206240"/>
            <a:ext cx="5513832" cy="896112"/>
          </a:xfrm>
          <a:prstGeom prst="roundRect">
            <a:avLst>
              <a:gd name="adj" fmla="val 8163"/>
            </a:avLst>
          </a:prstGeom>
          <a:solidFill>
            <a:srgbClr val="FBF1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291072" y="4279392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Zero-Connectivity Safe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291072" y="457200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display + LoRa alerts work without internet or cellular signal — built for remote NER blocks.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4098" name="Picture 2" descr="Cold Storage for Agricultural Products | Fruits and Vegetables. | Flux  Logistics">
            <a:extLst>
              <a:ext uri="{FF2B5EF4-FFF2-40B4-BE49-F238E27FC236}">
                <a16:creationId xmlns:a16="http://schemas.microsoft.com/office/drawing/2014/main" id="{F527CAF8-3B38-44A6-80D8-E115E5011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23460"/>
            <a:ext cx="2440917" cy="157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" name="Image 0" descr="/home/claude/sih_ppt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8646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2004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Future Scope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5271516" cy="1234440"/>
          </a:xfrm>
          <a:prstGeom prst="roundRect">
            <a:avLst>
              <a:gd name="adj" fmla="val 7407"/>
            </a:avLst>
          </a:prstGeom>
          <a:solidFill>
            <a:srgbClr val="E8F0EB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559052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1" descr="/home/claude/sih_ppt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60" y="1699504"/>
            <a:ext cx="304312" cy="304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380744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Cluster-Level Shared Units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1709928"/>
            <a:ext cx="4128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slightly larger shared unit for 4-5 nearby farmers spreads solar/battery cost per household.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368796" y="1234440"/>
            <a:ext cx="5271516" cy="1234440"/>
          </a:xfrm>
          <a:prstGeom prst="roundRect">
            <a:avLst>
              <a:gd name="adj" fmla="val 7407"/>
            </a:avLst>
          </a:prstGeom>
          <a:solidFill>
            <a:srgbClr val="E8F0EB"/>
          </a:solidFill>
          <a:ln/>
        </p:spPr>
      </p:sp>
      <p:sp>
        <p:nvSpPr>
          <p:cNvPr id="11" name="Shape 7"/>
          <p:cNvSpPr/>
          <p:nvPr/>
        </p:nvSpPr>
        <p:spPr>
          <a:xfrm>
            <a:off x="6569964" y="1559052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2" descr="/home/claude/sih_ppt/icons/tru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416" y="1699504"/>
            <a:ext cx="304312" cy="304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28916" y="1380744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&amp; Mobile Version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328916" y="1709928"/>
            <a:ext cx="4128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Wheeled base now; vehicle-mounted version for transport cooling as a future scaling direction.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2697480"/>
            <a:ext cx="5271516" cy="1234440"/>
          </a:xfrm>
          <a:prstGeom prst="roundRect">
            <a:avLst>
              <a:gd name="adj" fmla="val 7407"/>
            </a:avLst>
          </a:prstGeom>
          <a:solidFill>
            <a:srgbClr val="E8F0EB"/>
          </a:solidFill>
          <a:ln/>
        </p:spPr>
      </p:sp>
      <p:sp>
        <p:nvSpPr>
          <p:cNvPr id="16" name="Shape 11"/>
          <p:cNvSpPr/>
          <p:nvPr/>
        </p:nvSpPr>
        <p:spPr>
          <a:xfrm>
            <a:off x="749808" y="3022092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3" descr="/home/claude/sih_ppt/icons/d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60" y="3162544"/>
            <a:ext cx="304312" cy="304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2843784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Cooling Software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3172968"/>
            <a:ext cx="4128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pre-cooling logic layered onto the same hardware — a zero-cost future upgrade.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368796" y="2697480"/>
            <a:ext cx="5271516" cy="1234440"/>
          </a:xfrm>
          <a:prstGeom prst="roundRect">
            <a:avLst>
              <a:gd name="adj" fmla="val 7407"/>
            </a:avLst>
          </a:prstGeom>
          <a:solidFill>
            <a:srgbClr val="E8F0EB"/>
          </a:solidFill>
          <a:ln/>
        </p:spPr>
      </p:sp>
      <p:sp>
        <p:nvSpPr>
          <p:cNvPr id="21" name="Shape 15"/>
          <p:cNvSpPr/>
          <p:nvPr/>
        </p:nvSpPr>
        <p:spPr>
          <a:xfrm>
            <a:off x="6569964" y="3022092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4" descr="/home/claude/sih_ppt/icons/plu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416" y="3162544"/>
            <a:ext cx="304312" cy="3043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28916" y="2843784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Micro-Hydro Hybrid Charging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328916" y="3172968"/>
            <a:ext cx="4128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NER's streams offer a complementary charging source during monsoon when solar is weakest.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" y="4160520"/>
            <a:ext cx="5271516" cy="1234440"/>
          </a:xfrm>
          <a:prstGeom prst="roundRect">
            <a:avLst>
              <a:gd name="adj" fmla="val 7407"/>
            </a:avLst>
          </a:prstGeom>
          <a:solidFill>
            <a:srgbClr val="E8F0EB"/>
          </a:solidFill>
          <a:ln/>
        </p:spPr>
      </p:sp>
      <p:sp>
        <p:nvSpPr>
          <p:cNvPr id="26" name="Shape 19"/>
          <p:cNvSpPr/>
          <p:nvPr/>
        </p:nvSpPr>
        <p:spPr>
          <a:xfrm>
            <a:off x="749808" y="4485132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7" name="Image 5" descr="/home/claude/sih_ppt/icons/leaf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60" y="4625584"/>
            <a:ext cx="304312" cy="3043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508760" y="4306824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Scheme Alignment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508760" y="4636008"/>
            <a:ext cx="4128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to plug into MDoNER cold-chain and NABARD rural infrastructure support schemes.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368796" y="4160520"/>
            <a:ext cx="5271516" cy="1234440"/>
          </a:xfrm>
          <a:prstGeom prst="roundRect">
            <a:avLst>
              <a:gd name="adj" fmla="val 7407"/>
            </a:avLst>
          </a:prstGeom>
          <a:solidFill>
            <a:srgbClr val="E8F0EB"/>
          </a:solidFill>
          <a:ln/>
        </p:spPr>
      </p:sp>
      <p:sp>
        <p:nvSpPr>
          <p:cNvPr id="31" name="Shape 23"/>
          <p:cNvSpPr/>
          <p:nvPr/>
        </p:nvSpPr>
        <p:spPr>
          <a:xfrm>
            <a:off x="6569964" y="4485132"/>
            <a:ext cx="585216" cy="58521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2" name="Image 6" descr="/home/claude/sih_ppt/icons/box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0416" y="4625584"/>
            <a:ext cx="304312" cy="30431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328916" y="4306824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Produce-Specific Tuning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7328916" y="4636008"/>
            <a:ext cx="4128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melting point and humidity control tuned per crop (leafy greens vs. root vegetables).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— Solar-Powered Smart Mini Cold Storage System (PS #05)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4" name="Image 0" descr="/home/claude/sih_ppt/icons/boo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949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719072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1572768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3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NABCONS (2022), Report on Assessment of Harvest and Post-Harvest Losses of Crops in India — Ministry of Food Processing Industries, Govt. of India.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404872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258568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3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ICAR-CIPHET studies on post-harvest losses in fruits and vegetables.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090672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2944368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3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New and Renewable Energy (MNRE) — National Solar Radiation Resource Assessment / Solar Atlas.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776472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3630168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3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Development of North Eastern Region (MDoNER) — Problem Statement brief, SIH PS #05.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462272"/>
            <a:ext cx="91440" cy="914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315968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3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 on solar-hybrid cold storage systems using Phase Change Material (PCM) for decentralized perishable storage.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1177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Kanishka S - [CB.EN.U4ECE26024]</cp:lastModifiedBy>
  <cp:revision>5</cp:revision>
  <dcterms:created xsi:type="dcterms:W3CDTF">2026-08-30T07:30:03Z</dcterms:created>
  <dcterms:modified xsi:type="dcterms:W3CDTF">2026-08-30T14:45:25Z</dcterms:modified>
</cp:coreProperties>
</file>